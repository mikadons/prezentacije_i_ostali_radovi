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96C28B-A6E5-4366-25E9-CA27D6090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B1C683-54E2-3A19-E990-96235985BF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sr-Latn-R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470531-C335-D6B3-AF24-B0ACB9FB5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0FE5-550B-43D1-92AE-53ADC9A94602}" type="datetimeFigureOut">
              <a:rPr lang="sr-Latn-RS" smtClean="0"/>
              <a:t>1.4.2026.</a:t>
            </a:fld>
            <a:endParaRPr lang="sr-Latn-R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0676BE-F69E-0BA9-DD9B-33272808E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2F450F-4D6B-7A87-1D22-795A22860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9515E-5807-4C62-A545-EE222AA007D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26509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4FBDE1-0D5F-3593-D9D8-37D9A4FD2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41922E-178B-70D6-CD02-CC72D59E7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0A87DA-1C00-DA81-CF6D-9F5FABE81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0FE5-550B-43D1-92AE-53ADC9A94602}" type="datetimeFigureOut">
              <a:rPr lang="sr-Latn-RS" smtClean="0"/>
              <a:t>1.4.2026.</a:t>
            </a:fld>
            <a:endParaRPr lang="sr-Latn-R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249B68-943F-C012-0471-13DA02238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EE6133-774A-E8B3-DD3A-A7F0CB45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9515E-5807-4C62-A545-EE222AA007D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600636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58396-9468-BA3F-11E6-2BB5F7CED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F4A482-0A45-92D0-1983-C782416FD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3E9E96-692C-337B-07E9-7C15974EF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0FE5-550B-43D1-92AE-53ADC9A94602}" type="datetimeFigureOut">
              <a:rPr lang="sr-Latn-RS" smtClean="0"/>
              <a:t>1.4.2026.</a:t>
            </a:fld>
            <a:endParaRPr lang="sr-Latn-R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41E4EE-8AB7-54A4-B795-354332E1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C44E33-9429-811D-6BDE-56FA5FBF5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9515E-5807-4C62-A545-EE222AA007D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2663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DAF3F-A113-F9CD-E8C3-83603BFA4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AF17F0-1D44-B792-18ED-A1169AD03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64932B-A9F3-9027-E7EE-A06F55A38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0BE7B3-BCFF-7EB8-D851-29A7BB75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0FE5-550B-43D1-92AE-53ADC9A94602}" type="datetimeFigureOut">
              <a:rPr lang="sr-Latn-RS" smtClean="0"/>
              <a:t>1.4.2026.</a:t>
            </a:fld>
            <a:endParaRPr lang="sr-Latn-R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59D5FC-B71F-1806-D993-52CA58070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10C991-5E2C-838C-4A06-A92499303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9515E-5807-4C62-A545-EE222AA007D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71296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80F47A-823E-6AB6-DEC2-6DD5DB185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F17153-2251-C56C-AD3F-9054B2EEF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202772-F43B-BB37-F899-682558CC5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F25D697-BFA9-86DE-A5AB-B9348FAE1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3FD227B-9FDB-00AA-748F-04E33EAA17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004B4BB-B76E-1312-D6B2-5D90C3DB8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0FE5-550B-43D1-92AE-53ADC9A94602}" type="datetimeFigureOut">
              <a:rPr lang="sr-Latn-RS" smtClean="0"/>
              <a:t>1.4.2026.</a:t>
            </a:fld>
            <a:endParaRPr lang="sr-Latn-R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F31FA2E-6A3D-E7A9-18C1-71CB861B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1AC4EEE-6880-6E33-F402-09B912AE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9515E-5807-4C62-A545-EE222AA007D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719965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BEA2CB-00F9-9D9E-6831-E966B0FBA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EE4B9D5-E4BB-33B0-B2FF-DEDBA621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0FE5-550B-43D1-92AE-53ADC9A94602}" type="datetimeFigureOut">
              <a:rPr lang="sr-Latn-RS" smtClean="0"/>
              <a:t>1.4.2026.</a:t>
            </a:fld>
            <a:endParaRPr lang="sr-Latn-R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A9BD034-DA81-3515-27DC-AACEE05D5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B2AB9D-BFDA-181F-F4D9-27190B54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9515E-5807-4C62-A545-EE222AA007D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12755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5B34C67-344C-5E1D-477D-12C93AA0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0FE5-550B-43D1-92AE-53ADC9A94602}" type="datetimeFigureOut">
              <a:rPr lang="sr-Latn-RS" smtClean="0"/>
              <a:t>1.4.2026.</a:t>
            </a:fld>
            <a:endParaRPr lang="sr-Latn-R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26DC28C-D759-DC2B-43F3-09FD436ED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6AC3A1-F93E-8729-F368-E8DFB044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9515E-5807-4C62-A545-EE222AA007D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517655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84EC6C-32F0-FAF2-CB1C-919DA6D40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22E1B8-8D52-3BB7-C98E-4BB999C16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2DD31F-84D6-4F78-3BCE-5FEE47B54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CE4D31-EFA6-FA40-0FBC-C95CB4DC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0FE5-550B-43D1-92AE-53ADC9A94602}" type="datetimeFigureOut">
              <a:rPr lang="sr-Latn-RS" smtClean="0"/>
              <a:t>1.4.2026.</a:t>
            </a:fld>
            <a:endParaRPr lang="sr-Latn-R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A314D0-B161-2F3A-7B04-097EAAE9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32517B-00EE-339A-30A9-EE5A9606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9515E-5807-4C62-A545-EE222AA007D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427246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0B3016-08EB-914C-35AC-57CE5A856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ECEF97A-4138-B77F-0D29-1E4F455E6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R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08FCBE-E0D1-F4F0-7F11-76A37495F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C89014-6DBA-5E38-6646-4C775759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0FE5-550B-43D1-92AE-53ADC9A94602}" type="datetimeFigureOut">
              <a:rPr lang="sr-Latn-RS" smtClean="0"/>
              <a:t>1.4.2026.</a:t>
            </a:fld>
            <a:endParaRPr lang="sr-Latn-R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F33E644-D023-4830-DB8B-242E43905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790086-3267-CE23-21BB-A44389B36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9515E-5807-4C62-A545-EE222AA007D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137340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4A82D-6F37-142F-828A-727A15F0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C4F6A6F-DA58-CAB9-906E-8CF7198B2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041AAF-B658-1EC3-1F65-98F53F38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0FE5-550B-43D1-92AE-53ADC9A94602}" type="datetimeFigureOut">
              <a:rPr lang="sr-Latn-RS" smtClean="0"/>
              <a:t>1.4.2026.</a:t>
            </a:fld>
            <a:endParaRPr lang="sr-Latn-R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41748C-EB4F-2FF3-FCEB-46EC39F5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E9FC72-F200-3751-58F3-122D9EF39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9515E-5807-4C62-A545-EE222AA007D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822277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8DA4A01-47AD-599F-4919-7DDD7893F9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82205F-D96A-E123-9259-D57AF902E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CD3354-D183-C615-8D6A-E3DFEF806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0FE5-550B-43D1-92AE-53ADC9A94602}" type="datetimeFigureOut">
              <a:rPr lang="sr-Latn-RS" smtClean="0"/>
              <a:t>1.4.2026.</a:t>
            </a:fld>
            <a:endParaRPr lang="sr-Latn-R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628B57-4BB4-99CB-28E5-F1F1A5B02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8CBBA6-D597-85E0-5B27-31B4E68B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9515E-5807-4C62-A545-EE222AA007D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264981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15A8EC-3305-920C-9AA8-818800447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sr-Latn-R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3B29A7-8421-0598-13C2-4E5B7CAE9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sr-Latn-R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FC9367-C651-752F-0754-128E236359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1B0FE5-550B-43D1-92AE-53ADC9A94602}" type="datetimeFigureOut">
              <a:rPr lang="sr-Latn-RS" smtClean="0"/>
              <a:t>1.4.2026.</a:t>
            </a:fld>
            <a:endParaRPr lang="sr-Latn-R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E8CF20-C5C1-AFA3-25CC-5075DCDFC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r-Latn-R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0B1266-A379-B64B-FC11-DA6314959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69515E-5807-4C62-A545-EE222AA007D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15688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Potpora i pokretljivost - test (7.r.) - Provere znanja">
            <a:extLst>
              <a:ext uri="{FF2B5EF4-FFF2-40B4-BE49-F238E27FC236}">
                <a16:creationId xmlns:a16="http://schemas.microsoft.com/office/drawing/2014/main" id="{700B1DEF-ED9C-59E7-87CF-EA9A9CCA98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41"/>
          <a:stretch>
            <a:fillRect/>
          </a:stretch>
        </p:blipFill>
        <p:spPr bwMode="auto">
          <a:xfrm>
            <a:off x="0" y="0"/>
            <a:ext cx="4992985" cy="6400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EF634815-BBD5-9F12-82ED-DC4C0E4D2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5616" y="775466"/>
            <a:ext cx="7666384" cy="3343135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400" b="1" dirty="0"/>
              <a:t>Potpora </a:t>
            </a:r>
            <a:r>
              <a:rPr lang="en-US" sz="5400" b="1" dirty="0" err="1"/>
              <a:t>i</a:t>
            </a:r>
            <a:r>
              <a:rPr lang="en-US" sz="5400" b="1" dirty="0"/>
              <a:t> </a:t>
            </a:r>
            <a:r>
              <a:rPr lang="en-US" sz="5400" b="1" dirty="0" err="1"/>
              <a:t>pokretljivost</a:t>
            </a:r>
            <a:endParaRPr lang="sr-Latn-RS" sz="5400" b="1" dirty="0"/>
          </a:p>
        </p:txBody>
      </p:sp>
    </p:spTree>
    <p:extLst>
      <p:ext uri="{BB962C8B-B14F-4D97-AF65-F5344CB8AC3E}">
        <p14:creationId xmlns:p14="http://schemas.microsoft.com/office/powerpoint/2010/main" val="112469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227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8" decel="50000" autoRev="1" fill="hold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0B3A4-EBCF-E3D3-BC67-FA7B6AFDA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36C52A4-9FCB-A879-6D1C-2AE7B53FF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93D20A-8A13-66F8-F64D-B8EC800C1AD4}"/>
              </a:ext>
            </a:extLst>
          </p:cNvPr>
          <p:cNvSpPr txBox="1"/>
          <p:nvPr/>
        </p:nvSpPr>
        <p:spPr>
          <a:xfrm>
            <a:off x="3211033" y="1011497"/>
            <a:ext cx="87612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000" b="1" dirty="0"/>
              <a:t>Zašto je potpora i pokretljivost važna</a:t>
            </a:r>
            <a:endParaRPr lang="sr-Latn-RS" sz="4000" b="1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F9569F-7177-1B04-B236-DD5AD814F45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b="6666"/>
          <a:stretch>
            <a:fillRect/>
          </a:stretch>
        </p:blipFill>
        <p:spPr>
          <a:xfrm>
            <a:off x="-1" y="320380"/>
            <a:ext cx="4572000" cy="6400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FC433E-A15D-07BF-4961-58FD463D664B}"/>
              </a:ext>
            </a:extLst>
          </p:cNvPr>
          <p:cNvSpPr txBox="1"/>
          <p:nvPr/>
        </p:nvSpPr>
        <p:spPr>
          <a:xfrm>
            <a:off x="3886199" y="2316688"/>
            <a:ext cx="772189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Potpora </a:t>
            </a:r>
            <a:r>
              <a:rPr lang="en-US" sz="3200" dirty="0" err="1"/>
              <a:t>i</a:t>
            </a:r>
            <a:r>
              <a:rPr lang="en-US" sz="3200" dirty="0"/>
              <a:t> </a:t>
            </a:r>
            <a:r>
              <a:rPr lang="en-US" sz="3200" dirty="0" err="1"/>
              <a:t>pokretljivost</a:t>
            </a:r>
            <a:r>
              <a:rPr lang="en-US" sz="3200" dirty="0"/>
              <a:t> </a:t>
            </a:r>
            <a:r>
              <a:rPr lang="en-US" sz="3200" dirty="0" err="1"/>
              <a:t>su</a:t>
            </a:r>
            <a:r>
              <a:rPr lang="en-US" sz="3200" dirty="0"/>
              <a:t> </a:t>
            </a:r>
            <a:r>
              <a:rPr lang="en-US" sz="3200" dirty="0" err="1"/>
              <a:t>veoma</a:t>
            </a:r>
            <a:r>
              <a:rPr lang="en-US" sz="3200" dirty="0"/>
              <a:t> </a:t>
            </a:r>
            <a:r>
              <a:rPr lang="en-US" sz="3200" dirty="0" err="1"/>
              <a:t>važne</a:t>
            </a:r>
            <a:r>
              <a:rPr lang="en-US" sz="3200" dirty="0"/>
              <a:t> za </a:t>
            </a:r>
            <a:r>
              <a:rPr lang="en-US" sz="3200" dirty="0" err="1"/>
              <a:t>opstanak</a:t>
            </a:r>
            <a:r>
              <a:rPr lang="en-US" sz="3200" dirty="0"/>
              <a:t> </a:t>
            </a:r>
            <a:r>
              <a:rPr lang="en-US" sz="3200" dirty="0" err="1"/>
              <a:t>živih</a:t>
            </a:r>
            <a:r>
              <a:rPr lang="en-US" sz="3200" dirty="0"/>
              <a:t> </a:t>
            </a:r>
            <a:r>
              <a:rPr lang="en-US" sz="3200" dirty="0" err="1"/>
              <a:t>bića</a:t>
            </a:r>
            <a:r>
              <a:rPr lang="en-US" sz="3200" dirty="0"/>
              <a:t>.</a:t>
            </a:r>
            <a:br>
              <a:rPr lang="en-US" sz="3200" dirty="0"/>
            </a:br>
            <a:r>
              <a:rPr lang="en-US" sz="3200" dirty="0"/>
              <a:t>One </a:t>
            </a:r>
            <a:r>
              <a:rPr lang="en-US" sz="3200" dirty="0" err="1"/>
              <a:t>omogućavaju</a:t>
            </a:r>
            <a:r>
              <a:rPr lang="en-US" sz="3200" dirty="0"/>
              <a:t> </a:t>
            </a:r>
            <a:r>
              <a:rPr lang="en-US" sz="3200" dirty="0" err="1"/>
              <a:t>organizmima</a:t>
            </a:r>
            <a:r>
              <a:rPr lang="en-US" sz="3200" dirty="0"/>
              <a:t> da </a:t>
            </a:r>
            <a:r>
              <a:rPr lang="en-US" sz="3200" dirty="0" err="1"/>
              <a:t>zadrže</a:t>
            </a:r>
            <a:r>
              <a:rPr lang="en-US" sz="3200" dirty="0"/>
              <a:t> </a:t>
            </a:r>
            <a:r>
              <a:rPr lang="en-US" sz="3200" dirty="0" err="1"/>
              <a:t>oblik</a:t>
            </a:r>
            <a:r>
              <a:rPr lang="en-US" sz="3200" dirty="0"/>
              <a:t> </a:t>
            </a:r>
            <a:r>
              <a:rPr lang="en-US" sz="3200" dirty="0" err="1"/>
              <a:t>tela</a:t>
            </a:r>
            <a:r>
              <a:rPr lang="en-US" sz="3200" dirty="0"/>
              <a:t> </a:t>
            </a:r>
            <a:r>
              <a:rPr lang="en-US" sz="3200" dirty="0" err="1"/>
              <a:t>i</a:t>
            </a:r>
            <a:r>
              <a:rPr lang="en-US" sz="3200" dirty="0"/>
              <a:t> da se </a:t>
            </a:r>
            <a:r>
              <a:rPr lang="en-US" sz="3200" dirty="0" err="1"/>
              <a:t>kreću</a:t>
            </a:r>
            <a:r>
              <a:rPr lang="en-US" sz="3200" dirty="0"/>
              <a:t> u </a:t>
            </a:r>
            <a:r>
              <a:rPr lang="en-US" sz="3200" dirty="0" err="1"/>
              <a:t>potrazi</a:t>
            </a:r>
            <a:r>
              <a:rPr lang="en-US" sz="3200" dirty="0"/>
              <a:t> za </a:t>
            </a:r>
            <a:r>
              <a:rPr lang="en-US" sz="3200" dirty="0" err="1"/>
              <a:t>hranom</a:t>
            </a:r>
            <a:r>
              <a:rPr lang="en-US" sz="3200" dirty="0"/>
              <a:t>, </a:t>
            </a:r>
            <a:r>
              <a:rPr lang="en-US" sz="3200" dirty="0" err="1"/>
              <a:t>skloništem</a:t>
            </a:r>
            <a:r>
              <a:rPr lang="en-US" sz="3200" dirty="0"/>
              <a:t> </a:t>
            </a:r>
            <a:r>
              <a:rPr lang="en-US" sz="3200" dirty="0" err="1"/>
              <a:t>i</a:t>
            </a:r>
            <a:r>
              <a:rPr lang="en-US" sz="3200" dirty="0"/>
              <a:t> </a:t>
            </a:r>
            <a:r>
              <a:rPr lang="en-US" sz="3200" dirty="0" err="1"/>
              <a:t>partnerom</a:t>
            </a:r>
            <a:r>
              <a:rPr lang="en-US" sz="3200" dirty="0"/>
              <a:t>.</a:t>
            </a:r>
            <a:br>
              <a:rPr lang="en-US" sz="3200" dirty="0"/>
            </a:br>
            <a:r>
              <a:rPr lang="en-US" sz="3200" dirty="0" err="1"/>
              <a:t>Takođe</a:t>
            </a:r>
            <a:r>
              <a:rPr lang="en-US" sz="3200" dirty="0"/>
              <a:t> </a:t>
            </a:r>
            <a:r>
              <a:rPr lang="en-US" sz="3200" dirty="0" err="1"/>
              <a:t>pomažu</a:t>
            </a:r>
            <a:r>
              <a:rPr lang="en-US" sz="3200" dirty="0"/>
              <a:t> u </a:t>
            </a:r>
            <a:r>
              <a:rPr lang="en-US" sz="3200" dirty="0" err="1"/>
              <a:t>odbrani</a:t>
            </a:r>
            <a:r>
              <a:rPr lang="en-US" sz="3200" dirty="0"/>
              <a:t> od </a:t>
            </a:r>
            <a:r>
              <a:rPr lang="en-US" sz="3200" dirty="0" err="1"/>
              <a:t>neprijatelja</a:t>
            </a:r>
            <a:r>
              <a:rPr lang="en-US" sz="3200" dirty="0"/>
              <a:t>.</a:t>
            </a:r>
            <a:br>
              <a:rPr lang="en-US" sz="3200" dirty="0"/>
            </a:br>
            <a:r>
              <a:rPr lang="en-US" sz="3200" dirty="0"/>
              <a:t>Za </a:t>
            </a:r>
            <a:r>
              <a:rPr lang="en-US" sz="3200" dirty="0" err="1"/>
              <a:t>ove</a:t>
            </a:r>
            <a:r>
              <a:rPr lang="en-US" sz="3200" dirty="0"/>
              <a:t> </a:t>
            </a:r>
            <a:r>
              <a:rPr lang="en-US" sz="3200" dirty="0" err="1"/>
              <a:t>funkcije</a:t>
            </a:r>
            <a:r>
              <a:rPr lang="en-US" sz="3200" dirty="0"/>
              <a:t> </a:t>
            </a:r>
            <a:r>
              <a:rPr lang="en-US" sz="3200" dirty="0" err="1"/>
              <a:t>zaduženi</a:t>
            </a:r>
            <a:r>
              <a:rPr lang="en-US" sz="3200" dirty="0"/>
              <a:t> </a:t>
            </a:r>
            <a:r>
              <a:rPr lang="en-US" sz="3200" dirty="0" err="1"/>
              <a:t>su</a:t>
            </a:r>
            <a:r>
              <a:rPr lang="en-US" sz="3200" dirty="0"/>
              <a:t> </a:t>
            </a:r>
            <a:r>
              <a:rPr lang="en-US" sz="3200" dirty="0" err="1"/>
              <a:t>skelet</a:t>
            </a:r>
            <a:r>
              <a:rPr lang="en-US" sz="3200" dirty="0"/>
              <a:t> </a:t>
            </a:r>
            <a:r>
              <a:rPr lang="en-US" sz="3200" dirty="0" err="1"/>
              <a:t>i</a:t>
            </a:r>
            <a:r>
              <a:rPr lang="en-US" sz="3200" dirty="0"/>
              <a:t> </a:t>
            </a:r>
            <a:r>
              <a:rPr lang="en-US" sz="3200" dirty="0" err="1"/>
              <a:t>mišići</a:t>
            </a:r>
            <a:r>
              <a:rPr lang="en-US" sz="3200" dirty="0"/>
              <a:t>, koji </a:t>
            </a:r>
            <a:r>
              <a:rPr lang="en-US" sz="3200" dirty="0" err="1"/>
              <a:t>zajedno</a:t>
            </a:r>
            <a:r>
              <a:rPr lang="en-US" sz="3200" dirty="0"/>
              <a:t> </a:t>
            </a:r>
            <a:r>
              <a:rPr lang="en-US" sz="3200" dirty="0" err="1"/>
              <a:t>čine</a:t>
            </a:r>
            <a:r>
              <a:rPr lang="en-US" sz="3200" dirty="0"/>
              <a:t> </a:t>
            </a:r>
            <a:r>
              <a:rPr lang="en-US" sz="3200" dirty="0" err="1"/>
              <a:t>lokomotorni</a:t>
            </a:r>
            <a:r>
              <a:rPr lang="en-US" sz="3200" dirty="0"/>
              <a:t> </a:t>
            </a:r>
            <a:r>
              <a:rPr lang="en-US" sz="3200" dirty="0" err="1"/>
              <a:t>sistem</a:t>
            </a:r>
            <a:r>
              <a:rPr lang="en-US" sz="3200" dirty="0"/>
              <a:t>.</a:t>
            </a:r>
            <a:endParaRPr lang="sr-Latn-RS" sz="3200" dirty="0"/>
          </a:p>
        </p:txBody>
      </p:sp>
    </p:spTree>
    <p:extLst>
      <p:ext uri="{BB962C8B-B14F-4D97-AF65-F5344CB8AC3E}">
        <p14:creationId xmlns:p14="http://schemas.microsoft.com/office/powerpoint/2010/main" val="718109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8B117A-8262-28E7-D8F9-4C4E8CF0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Tipovi skeleta kod beskičmenjaka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3AB9A509-AB8D-B5F7-FD14-9C4BF91853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703182" y="1749677"/>
            <a:ext cx="4777381" cy="318890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7236A4B2-C13E-DE4B-6B88-217BCFE68F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2400"/>
              <a:t>Beskičmenjaci imaju različite tipove skeleta:</a:t>
            </a:r>
          </a:p>
          <a:p>
            <a:r>
              <a:rPr lang="en-US" sz="2400" b="1"/>
              <a:t>Hidroskelet</a:t>
            </a:r>
            <a:r>
              <a:rPr lang="en-US" sz="2400"/>
              <a:t> – oslonac daje tečnost u telu; telo je mekano i fleksibilno (npr. gliste) </a:t>
            </a:r>
          </a:p>
          <a:p>
            <a:r>
              <a:rPr lang="en-US" sz="2400" b="1"/>
              <a:t>Egzoskelet</a:t>
            </a:r>
            <a:r>
              <a:rPr lang="en-US" sz="2400"/>
              <a:t> – spoljašnji čvrst omotač koji štiti telo (insekti, rakovi); ne raste sa organizmom pa dolazi do presvlačenja </a:t>
            </a:r>
          </a:p>
          <a:p>
            <a:r>
              <a:rPr lang="en-US" sz="2400" b="1"/>
              <a:t>Endoskelet</a:t>
            </a:r>
            <a:r>
              <a:rPr lang="en-US" sz="2400"/>
              <a:t> – unutrašnji skelet kod nekih jednostavnijih organizama 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197688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6200E3F9-3D70-526A-1CBE-02CC77C872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69" t="-1" r="669" b="-1892"/>
          <a:stretch>
            <a:fillRect/>
          </a:stretch>
        </p:blipFill>
        <p:spPr>
          <a:xfrm>
            <a:off x="6906746" y="520749"/>
            <a:ext cx="4045994" cy="564379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19" name="Arc 18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A2563-BA84-2797-1D4A-0722704B1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Skelet kičmenjaka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560C89-D7AE-3AF6-118C-FCFE749C7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984443"/>
            <a:ext cx="5257800" cy="4192520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2200"/>
              <a:t>Kičmenjaci imaju unutrašnji skelet – endoskelet.</a:t>
            </a:r>
            <a:br>
              <a:rPr lang="en-US" sz="2200"/>
            </a:br>
            <a:r>
              <a:rPr lang="en-US" sz="2200"/>
              <a:t>On se razvija i raste zajedno sa organizmom.</a:t>
            </a:r>
            <a:br>
              <a:rPr lang="en-US" sz="2200"/>
            </a:br>
            <a:r>
              <a:rPr lang="en-US" sz="2200"/>
              <a:t>Građen je od kostiju i hrskavice.</a:t>
            </a:r>
            <a:br>
              <a:rPr lang="en-US" sz="2200"/>
            </a:br>
            <a:r>
              <a:rPr lang="en-US" sz="2200"/>
              <a:t>Osnovni delovi skeleta su:</a:t>
            </a:r>
          </a:p>
          <a:p>
            <a:r>
              <a:rPr lang="en-US" sz="2200"/>
              <a:t>lobanja – štiti mozak </a:t>
            </a:r>
          </a:p>
          <a:p>
            <a:r>
              <a:rPr lang="en-US" sz="2200"/>
              <a:t>kičmeni stub – štiti kičmenu moždinu i daje oslonac telu </a:t>
            </a:r>
          </a:p>
          <a:p>
            <a:r>
              <a:rPr lang="en-US" sz="2200"/>
              <a:t>grudni koš – štiti srce i pluća </a:t>
            </a:r>
          </a:p>
          <a:p>
            <a:r>
              <a:rPr lang="en-US" sz="2200"/>
              <a:t>udovi – omogućavaju kretanje</a:t>
            </a:r>
          </a:p>
        </p:txBody>
      </p:sp>
    </p:spTree>
    <p:extLst>
      <p:ext uri="{BB962C8B-B14F-4D97-AF65-F5344CB8AC3E}">
        <p14:creationId xmlns:p14="http://schemas.microsoft.com/office/powerpoint/2010/main" val="2457143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5E1C7B-7617-9D17-5067-52B28574D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Uloga</a:t>
            </a:r>
            <a:r>
              <a:rPr lang="en-US" b="1" dirty="0"/>
              <a:t> </a:t>
            </a:r>
            <a:r>
              <a:rPr lang="en-US" b="1" dirty="0" err="1"/>
              <a:t>skeleta</a:t>
            </a:r>
            <a:endParaRPr lang="sr-Latn-R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4665D7-1B9D-BD3B-9062-8796E0B6AD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Skelet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važnih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:</a:t>
            </a:r>
          </a:p>
          <a:p>
            <a:r>
              <a:rPr lang="en-US" dirty="0" err="1"/>
              <a:t>daje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čvrstinu</a:t>
            </a:r>
            <a:r>
              <a:rPr lang="en-US" dirty="0"/>
              <a:t> </a:t>
            </a:r>
            <a:r>
              <a:rPr lang="en-US" dirty="0" err="1"/>
              <a:t>telu</a:t>
            </a:r>
            <a:r>
              <a:rPr lang="en-US" dirty="0"/>
              <a:t> </a:t>
            </a:r>
          </a:p>
          <a:p>
            <a:r>
              <a:rPr lang="en-US" dirty="0" err="1"/>
              <a:t>štiti</a:t>
            </a:r>
            <a:r>
              <a:rPr lang="en-US" dirty="0"/>
              <a:t> </a:t>
            </a:r>
            <a:r>
              <a:rPr lang="en-US" dirty="0" err="1"/>
              <a:t>unutrašnje</a:t>
            </a:r>
            <a:r>
              <a:rPr lang="en-US" dirty="0"/>
              <a:t> </a:t>
            </a:r>
            <a:r>
              <a:rPr lang="en-US" dirty="0" err="1"/>
              <a:t>organe</a:t>
            </a:r>
            <a:r>
              <a:rPr lang="en-US" dirty="0"/>
              <a:t> </a:t>
            </a:r>
          </a:p>
          <a:p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pokretanje</a:t>
            </a:r>
            <a:r>
              <a:rPr lang="en-US" dirty="0"/>
              <a:t> u </a:t>
            </a:r>
            <a:r>
              <a:rPr lang="en-US" dirty="0" err="1"/>
              <a:t>saradnji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mišićima</a:t>
            </a:r>
            <a:r>
              <a:rPr lang="en-US" dirty="0"/>
              <a:t> </a:t>
            </a:r>
          </a:p>
          <a:p>
            <a:r>
              <a:rPr lang="en-US" dirty="0"/>
              <a:t>u </a:t>
            </a:r>
            <a:r>
              <a:rPr lang="en-US" dirty="0" err="1"/>
              <a:t>kostima</a:t>
            </a:r>
            <a:r>
              <a:rPr lang="en-US" dirty="0"/>
              <a:t> </a:t>
            </a:r>
            <a:r>
              <a:rPr lang="en-US" dirty="0" err="1"/>
              <a:t>nastaju</a:t>
            </a:r>
            <a:r>
              <a:rPr lang="en-US" dirty="0"/>
              <a:t> </a:t>
            </a:r>
            <a:r>
              <a:rPr lang="en-US" dirty="0" err="1"/>
              <a:t>krvne</a:t>
            </a:r>
            <a:r>
              <a:rPr lang="en-US" dirty="0"/>
              <a:t> </a:t>
            </a:r>
            <a:r>
              <a:rPr lang="en-US" dirty="0" err="1"/>
              <a:t>ćelije</a:t>
            </a:r>
            <a:r>
              <a:rPr lang="en-US" dirty="0"/>
              <a:t> </a:t>
            </a:r>
          </a:p>
          <a:p>
            <a:r>
              <a:rPr lang="en-US" dirty="0" err="1"/>
              <a:t>skladišti</a:t>
            </a:r>
            <a:r>
              <a:rPr lang="en-US" dirty="0"/>
              <a:t> </a:t>
            </a:r>
            <a:r>
              <a:rPr lang="en-US" dirty="0" err="1"/>
              <a:t>minerale</a:t>
            </a:r>
            <a:r>
              <a:rPr lang="en-US" dirty="0"/>
              <a:t> (</a:t>
            </a:r>
            <a:r>
              <a:rPr lang="en-US" dirty="0" err="1"/>
              <a:t>posebno</a:t>
            </a:r>
            <a:r>
              <a:rPr lang="en-US" dirty="0"/>
              <a:t> </a:t>
            </a:r>
            <a:r>
              <a:rPr lang="en-US" dirty="0" err="1"/>
              <a:t>kalcijum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fosfor</a:t>
            </a:r>
            <a:r>
              <a:rPr lang="en-US" dirty="0"/>
              <a:t>)</a:t>
            </a:r>
          </a:p>
          <a:p>
            <a:endParaRPr lang="sr-Latn-RS" dirty="0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6823D3A0-2C18-566A-FFE2-72EEE01850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209" y="1544497"/>
            <a:ext cx="5181601" cy="494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817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8" name="Rectangle 206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5C748B-9230-2C3A-CE51-B7B3501E4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Sastav kostiju kičmenjaka</a:t>
            </a:r>
          </a:p>
        </p:txBody>
      </p:sp>
      <p:sp>
        <p:nvSpPr>
          <p:cNvPr id="207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4D7C35-BF4F-DECA-A6BD-091BDF7AE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r>
              <a:rPr lang="en-US" sz="1900"/>
              <a:t>Kosti se sastoje iz dva osnovna dela:</a:t>
            </a:r>
          </a:p>
          <a:p>
            <a:r>
              <a:rPr lang="en-US" sz="1900" b="1"/>
              <a:t>Organski deo (kolagen)</a:t>
            </a:r>
            <a:r>
              <a:rPr lang="en-US" sz="1900"/>
              <a:t> – daje elastičnost i savitljivost </a:t>
            </a:r>
          </a:p>
          <a:p>
            <a:r>
              <a:rPr lang="en-US" sz="1900" b="1"/>
              <a:t>Neorganski deo (mineralne soli)</a:t>
            </a:r>
            <a:r>
              <a:rPr lang="en-US" sz="1900"/>
              <a:t> – daje čvrstinu i tvrdoću </a:t>
            </a:r>
          </a:p>
          <a:p>
            <a:pPr marL="0"/>
            <a:r>
              <a:rPr lang="en-US" sz="1900"/>
              <a:t>Zahvaljujući ovoj kombinaciji, kosti su jake, ali ne pucaju lako.</a:t>
            </a:r>
          </a:p>
          <a:p>
            <a:endParaRPr lang="en-US" sz="1900"/>
          </a:p>
        </p:txBody>
      </p:sp>
      <p:pic>
        <p:nvPicPr>
          <p:cNvPr id="2050" name="Picture 2" descr="KOSTANI SISTEM | SEMINARSKI RAD IZ BIOLOGIJE">
            <a:extLst>
              <a:ext uri="{FF2B5EF4-FFF2-40B4-BE49-F238E27FC236}">
                <a16:creationId xmlns:a16="http://schemas.microsoft.com/office/drawing/2014/main" id="{01B3A28F-6D73-32A0-737F-5BEA54CA665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634033"/>
            <a:ext cx="6903720" cy="3589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6829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575CE0-E623-5594-80A6-2BEABA05F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/>
              <a:t>Mišići</a:t>
            </a:r>
          </a:p>
        </p:txBody>
      </p:sp>
      <p:sp>
        <p:nvSpPr>
          <p:cNvPr id="308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8C5772-D535-2105-427B-BBE60C2FE6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2200"/>
              <a:t>Mišići omogućavaju kretanje tela i njegovih delova.</a:t>
            </a:r>
            <a:br>
              <a:rPr lang="en-US" sz="2200"/>
            </a:br>
            <a:r>
              <a:rPr lang="en-US" sz="2200"/>
              <a:t>Oni rade tako što se naizmenično skupljaju (kontrahuju) i opuštaju.</a:t>
            </a:r>
            <a:br>
              <a:rPr lang="en-US" sz="2200"/>
            </a:br>
            <a:r>
              <a:rPr lang="en-US" sz="2200"/>
              <a:t>Povezani su sa kostima pomoću tetiva.</a:t>
            </a:r>
            <a:br>
              <a:rPr lang="en-US" sz="2200"/>
            </a:br>
            <a:r>
              <a:rPr lang="en-US" sz="2200"/>
              <a:t>Kada se mišić skrati, on povlači kost i izaziva pokret.</a:t>
            </a:r>
            <a:br>
              <a:rPr lang="en-US" sz="2200"/>
            </a:br>
            <a:r>
              <a:rPr lang="en-US" sz="2200"/>
              <a:t>Mišići takođe pomažu u održavanju položaja tela.</a:t>
            </a:r>
          </a:p>
        </p:txBody>
      </p:sp>
      <p:pic>
        <p:nvPicPr>
          <p:cNvPr id="3074" name="Picture 2" descr="Anatomija misici – Posteraj - štampa i uramljivanje">
            <a:extLst>
              <a:ext uri="{FF2B5EF4-FFF2-40B4-BE49-F238E27FC236}">
                <a16:creationId xmlns:a16="http://schemas.microsoft.com/office/drawing/2014/main" id="{A7148334-6A7B-ADA2-A865-E663894609D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14"/>
          <a:stretch>
            <a:fillRect/>
          </a:stretch>
        </p:blipFill>
        <p:spPr bwMode="auto">
          <a:xfrm>
            <a:off x="5648762" y="10"/>
            <a:ext cx="4784798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9525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317992-AC34-7595-BC72-E19D07AEA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Mišićna tkiva kičmenjaka</a:t>
            </a:r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9CD2CD-EBD1-7B05-24ED-028EB13FD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1800"/>
              <a:t>Postoje tri vrste mišićnog tkiva:</a:t>
            </a:r>
          </a:p>
          <a:p>
            <a:r>
              <a:rPr lang="en-US" sz="1800" b="1"/>
              <a:t>Poprečno-prugasto</a:t>
            </a:r>
            <a:r>
              <a:rPr lang="en-US" sz="1800"/>
              <a:t> – vezano za kosti; omogućava voljne pokrete i brzo reaguje </a:t>
            </a:r>
          </a:p>
          <a:p>
            <a:r>
              <a:rPr lang="en-US" sz="1800" b="1"/>
              <a:t>Glatko</a:t>
            </a:r>
            <a:r>
              <a:rPr lang="en-US" sz="1800"/>
              <a:t> – nalazi se u unutrašnjim organima; radi sporo i bez naše volje </a:t>
            </a:r>
          </a:p>
          <a:p>
            <a:r>
              <a:rPr lang="en-US" sz="1800" b="1"/>
              <a:t>Srčano tkivo</a:t>
            </a:r>
            <a:r>
              <a:rPr lang="en-US" sz="1800"/>
              <a:t> – gradi srce; radi neprekidno i ritmično tokom celog života</a:t>
            </a:r>
          </a:p>
          <a:p>
            <a:endParaRPr lang="en-US" sz="1800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Tkiva - BioKabinet">
            <a:extLst>
              <a:ext uri="{FF2B5EF4-FFF2-40B4-BE49-F238E27FC236}">
                <a16:creationId xmlns:a16="http://schemas.microsoft.com/office/drawing/2014/main" id="{19F5B0FD-3DCA-9A69-59C5-22C1C9A1CF2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7738" y="1404941"/>
            <a:ext cx="5628018" cy="381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33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9A6A70-A1C8-018D-6C2A-5A30A5BCE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Zajednički rad skeleta i mišića</a:t>
            </a:r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F6CCB5-683A-D4F7-93DA-6B2C75611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2000" dirty="0" err="1"/>
              <a:t>Skelet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mišići</a:t>
            </a:r>
            <a:r>
              <a:rPr lang="en-US" sz="2000" dirty="0"/>
              <a:t> </a:t>
            </a:r>
            <a:r>
              <a:rPr lang="en-US" sz="2000" dirty="0" err="1"/>
              <a:t>zajedno</a:t>
            </a:r>
            <a:r>
              <a:rPr lang="en-US" sz="2000" dirty="0"/>
              <a:t> </a:t>
            </a:r>
            <a:r>
              <a:rPr lang="en-US" sz="2000" dirty="0" err="1"/>
              <a:t>omogućavaju</a:t>
            </a:r>
            <a:r>
              <a:rPr lang="en-US" sz="2000" dirty="0"/>
              <a:t> </a:t>
            </a:r>
            <a:r>
              <a:rPr lang="en-US" sz="2000" dirty="0" err="1"/>
              <a:t>kretanje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Kosti </a:t>
            </a:r>
            <a:r>
              <a:rPr lang="en-US" sz="2000" dirty="0" err="1"/>
              <a:t>daju</a:t>
            </a:r>
            <a:r>
              <a:rPr lang="en-US" sz="2000" dirty="0"/>
              <a:t> </a:t>
            </a:r>
            <a:r>
              <a:rPr lang="en-US" sz="2000" dirty="0" err="1"/>
              <a:t>oslonac</a:t>
            </a:r>
            <a:r>
              <a:rPr lang="en-US" sz="2000" dirty="0"/>
              <a:t>, a </a:t>
            </a:r>
            <a:r>
              <a:rPr lang="en-US" sz="2000" dirty="0" err="1"/>
              <a:t>mišići</a:t>
            </a:r>
            <a:r>
              <a:rPr lang="en-US" sz="2000" dirty="0"/>
              <a:t> </a:t>
            </a:r>
            <a:r>
              <a:rPr lang="en-US" sz="2000" dirty="0" err="1"/>
              <a:t>pokreću</a:t>
            </a:r>
            <a:r>
              <a:rPr lang="en-US" sz="2000" dirty="0"/>
              <a:t> </a:t>
            </a:r>
            <a:r>
              <a:rPr lang="en-US" sz="2000" dirty="0" err="1"/>
              <a:t>telo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 err="1"/>
              <a:t>Ovaj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omogućava</a:t>
            </a:r>
            <a:r>
              <a:rPr lang="en-US" sz="2000" dirty="0"/>
              <a:t> </a:t>
            </a:r>
            <a:r>
              <a:rPr lang="en-US" sz="2000" dirty="0" err="1"/>
              <a:t>različite</a:t>
            </a:r>
            <a:r>
              <a:rPr lang="en-US" sz="2000" dirty="0"/>
              <a:t> </a:t>
            </a:r>
            <a:r>
              <a:rPr lang="en-US" sz="2000" dirty="0" err="1"/>
              <a:t>pokrete</a:t>
            </a:r>
            <a:r>
              <a:rPr lang="en-US" sz="2000" dirty="0"/>
              <a:t> – </a:t>
            </a:r>
            <a:r>
              <a:rPr lang="en-US" sz="2000" dirty="0" err="1"/>
              <a:t>hodanje</a:t>
            </a:r>
            <a:r>
              <a:rPr lang="en-US" sz="2000" dirty="0"/>
              <a:t>, </a:t>
            </a:r>
            <a:r>
              <a:rPr lang="en-US" sz="2000" dirty="0" err="1"/>
              <a:t>trčanje</a:t>
            </a:r>
            <a:r>
              <a:rPr lang="en-US" sz="2000" dirty="0"/>
              <a:t>, </a:t>
            </a:r>
            <a:r>
              <a:rPr lang="en-US" sz="2000" dirty="0" err="1"/>
              <a:t>skakanje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rad </a:t>
            </a:r>
            <a:r>
              <a:rPr lang="en-US" sz="2000" dirty="0" err="1"/>
              <a:t>rukama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Bez </a:t>
            </a:r>
            <a:r>
              <a:rPr lang="en-US" sz="2000" dirty="0" err="1"/>
              <a:t>saradnje</a:t>
            </a:r>
            <a:r>
              <a:rPr lang="en-US" sz="2000" dirty="0"/>
              <a:t> ova </a:t>
            </a:r>
            <a:r>
              <a:rPr lang="en-US" sz="2000" dirty="0" err="1"/>
              <a:t>dva</a:t>
            </a:r>
            <a:r>
              <a:rPr lang="en-US" sz="2000" dirty="0"/>
              <a:t> </a:t>
            </a:r>
            <a:r>
              <a:rPr lang="en-US" sz="2000" dirty="0" err="1"/>
              <a:t>sistema</a:t>
            </a:r>
            <a:r>
              <a:rPr lang="en-US" sz="2000" dirty="0"/>
              <a:t>, </a:t>
            </a:r>
            <a:r>
              <a:rPr lang="en-US" sz="2000" dirty="0" err="1"/>
              <a:t>kretanje</a:t>
            </a:r>
            <a:r>
              <a:rPr lang="en-US" sz="2000" dirty="0"/>
              <a:t> ne bi </a:t>
            </a:r>
            <a:r>
              <a:rPr lang="en-US" sz="2000" dirty="0" err="1"/>
              <a:t>bilo</a:t>
            </a:r>
            <a:r>
              <a:rPr lang="en-US" sz="2000" dirty="0"/>
              <a:t> </a:t>
            </a:r>
            <a:r>
              <a:rPr lang="en-US" sz="2000" dirty="0" err="1"/>
              <a:t>moguće</a:t>
            </a:r>
            <a:r>
              <a:rPr lang="en-US" sz="2000" dirty="0"/>
              <a:t>.</a:t>
            </a:r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5" name="Rectangle 513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LOCOMOTOR SYSTEM Quiz">
            <a:extLst>
              <a:ext uri="{FF2B5EF4-FFF2-40B4-BE49-F238E27FC236}">
                <a16:creationId xmlns:a16="http://schemas.microsoft.com/office/drawing/2014/main" id="{6167EF98-9EBD-8538-BFE7-E7DE893DB88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43124" y="650494"/>
            <a:ext cx="5517245" cy="532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507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848A8-8003-2411-C216-ADCB144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Hvala </a:t>
            </a:r>
            <a:r>
              <a:rPr lang="en-US" dirty="0" err="1"/>
              <a:t>na</a:t>
            </a:r>
            <a:r>
              <a:rPr lang="en-US" dirty="0"/>
              <a:t> pa</a:t>
            </a:r>
            <a:r>
              <a:rPr lang="sr-Latn-RS" dirty="0"/>
              <a:t>žnji!</a:t>
            </a:r>
          </a:p>
        </p:txBody>
      </p:sp>
    </p:spTree>
    <p:extLst>
      <p:ext uri="{BB962C8B-B14F-4D97-AF65-F5344CB8AC3E}">
        <p14:creationId xmlns:p14="http://schemas.microsoft.com/office/powerpoint/2010/main" val="151026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37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37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417</Words>
  <Application>Microsoft Office PowerPoint</Application>
  <PresentationFormat>Широкоэкранный</PresentationFormat>
  <Paragraphs>36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Тема Office</vt:lpstr>
      <vt:lpstr>Potpora i pokretljivost</vt:lpstr>
      <vt:lpstr>Презентация PowerPoint</vt:lpstr>
      <vt:lpstr>Tipovi skeleta kod beskičmenjaka</vt:lpstr>
      <vt:lpstr>Skelet kičmenjaka</vt:lpstr>
      <vt:lpstr>Uloga skeleta</vt:lpstr>
      <vt:lpstr>Sastav kostiju kičmenjaka</vt:lpstr>
      <vt:lpstr>Mišići</vt:lpstr>
      <vt:lpstr>Mišićna tkiva kičmenjaka</vt:lpstr>
      <vt:lpstr>Zajednički rad skeleta i mišića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4</cp:revision>
  <dcterms:created xsi:type="dcterms:W3CDTF">2026-04-01T09:11:34Z</dcterms:created>
  <dcterms:modified xsi:type="dcterms:W3CDTF">2026-04-01T19:35:18Z</dcterms:modified>
</cp:coreProperties>
</file>